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3" r:id="rId8"/>
    <p:sldId id="264" r:id="rId9"/>
    <p:sldId id="265" r:id="rId10"/>
    <p:sldId id="266" r:id="rId11"/>
    <p:sldId id="267" r:id="rId12"/>
    <p:sldId id="272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30D6-EDE4-DEFA-FC59-9222A0EA2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FAD2E-EB11-DA7B-C56F-6B11BC7B5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7F65-5CCA-5FA5-773D-60D22088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B352-46B5-62A9-B4EE-7466E5F9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7FD48-F78B-C731-15FA-3DB6D562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4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0706-F95B-6AD2-F525-68BEAEDB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A254D-4236-E2C3-60DE-85CA51F1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00CD1-6AED-C4FF-F539-842D8C37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EC550-3B95-7D93-F655-0333C23B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73B6C-962E-6B2A-304A-C3C51910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5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C1F9-BD39-7AFA-4007-EFBB7E48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75785-744F-82CA-5453-B28365CD7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BEF16-EBC5-E260-DA34-7B140B2A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7B4E-5D81-4ACC-E591-4F107332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7B68-B6A8-54A5-0FAA-23BAF7DC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3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714A-32CC-0F5D-40E5-685FED57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9759-F6F8-6A80-1EEF-E7393B72D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83CE0-9BD1-FCBE-B833-F5FAFE5A3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40DFF-00C6-6755-6F72-1A45113F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AB783-696E-C11C-BFE9-E2858EE9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BC6DB-E1DF-3790-6CAB-30448A66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2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2B58-D80C-061D-A2CB-8CA57F08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0C806-72F1-C7F5-0689-6D5BAB453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640F-0EAB-6E42-E149-0B28BBEF1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610117-FD0D-295C-BA03-25AA9A98F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108D4-44E4-061A-8F1E-901D42ECA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DE2A-096C-A6A2-8958-D3C984D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8DC40-F9BB-CB43-9438-8C1C7EBC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5014E-B78C-9600-65EC-70C108F7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21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C1154-CCC4-0AA8-CA69-47187209B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AE377-BAD9-B586-B922-7395B6C2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D8946-E56C-EF65-9A69-38604546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E2E98-322D-E1C9-AB71-AAC7066D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73398F-43EB-C0B2-764D-D322D18E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AEBA9-0404-D64B-4F09-FE04A9A3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4EBD7-699A-2A17-7B41-A61514E1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29C9-38FA-2E8D-3A19-6868163B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A6249-C103-277B-2D62-ED3AE9556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CBBB-4E69-BD04-1833-C0F73EE97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607F9-2E1F-AE0D-BE15-B074738C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0B2EE-8E7C-E7B5-41E6-27B721E2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5ACA2-C7BF-B019-E088-A9AE80B0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7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23D3-626F-71A3-DA89-22DA559E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AA589-C28A-B59E-4DA1-B5231C583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27FA0-7272-7C09-3350-F4E38C28A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F95A9-605A-2BBB-2A5D-34DA0A66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04F28-D513-B70F-1D5C-CE4DBA55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ABA6F-9AF2-B2DF-A76A-A7C73E5D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49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9DBF-921C-F63F-986F-ACBFE8F2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493AA-7CC6-8921-5749-32502B5D9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2AB70-100F-D461-5AD4-961502E0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D51B8-D03F-7DAD-B06F-217D80EB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FFF2-B0AC-B90A-C6EF-E9B46B20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1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D6D939-14AF-B1ED-318C-1C1F4AA4E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666D5-27A7-E6E3-4E63-401F558D8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532D-939A-D440-DCBE-31493A71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7DC9E-4253-993A-609E-90FE3AC8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BB79-FE1B-47AE-C30A-22B0D9A1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3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D7C29-EB44-0584-E354-9A325D56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29EC2-F814-D0BA-E51A-C196EF084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6C188-232B-5DD9-4A64-4935DF2D1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696B4-7C91-824E-B80F-F4212CFC8D23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75611-DE3D-34E6-7F3F-D4885BE87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3F014-B2C3-DB4F-F19C-F4A3DA9BA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9F9AB-BFCF-AB4C-AEF0-2E57D130B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6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418E-8BE4-9FB0-EDE6-4B69FA866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Face Attribute Recognition Using Deep Learning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EDF8A-65FC-E4BA-2F80-32F468E69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3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C595-1056-EE56-0B06-E8B19D97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0291-5C33-DE20-5BA2-8A6CC593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my final project, I worked on a </a:t>
            </a:r>
            <a:r>
              <a:rPr lang="en-US" b="1" dirty="0"/>
              <a:t>computer vision task</a:t>
            </a:r>
            <a:r>
              <a:rPr lang="en-US" dirty="0"/>
              <a:t> using the </a:t>
            </a:r>
            <a:r>
              <a:rPr lang="en-US" b="1" dirty="0" err="1"/>
              <a:t>CelebA</a:t>
            </a:r>
            <a:r>
              <a:rPr lang="en-US" b="1" dirty="0"/>
              <a:t> face dataset</a:t>
            </a:r>
            <a:r>
              <a:rPr lang="en-US" dirty="0"/>
              <a:t>.</a:t>
            </a:r>
          </a:p>
          <a:p>
            <a:r>
              <a:rPr lang="en-US" dirty="0"/>
              <a:t>The main goal of the project was to build a deep learning system that can detect whether a person is wearing </a:t>
            </a:r>
            <a:r>
              <a:rPr lang="en-US" b="1" dirty="0"/>
              <a:t>eyeglasses or not</a:t>
            </a:r>
            <a:r>
              <a:rPr lang="en-US" dirty="0"/>
              <a:t>.</a:t>
            </a:r>
          </a:p>
          <a:p>
            <a:r>
              <a:rPr lang="en-US" dirty="0"/>
              <a:t>I also added a </a:t>
            </a:r>
            <a:r>
              <a:rPr lang="en-US" b="1" dirty="0"/>
              <a:t>visual similarity matching</a:t>
            </a:r>
            <a:r>
              <a:rPr lang="en-US" dirty="0"/>
              <a:t> part to compare facial attributes such as hair, eyes, nose, mouth, smile, beard, and eyeglasses.</a:t>
            </a:r>
          </a:p>
          <a:p>
            <a:r>
              <a:rPr lang="en-US" dirty="0"/>
              <a:t>This project connects to class topics such as </a:t>
            </a:r>
            <a:r>
              <a:rPr lang="en-US" b="1" dirty="0"/>
              <a:t>Deep Learning, Neural Networks, Computer Vision, CNNs, Transformers, Explainable AI, and Robustness Testing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86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F8DC-609A-F588-2EC5-289C087D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and Data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A804-5657-DB58-54CA-DCD402608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used </a:t>
            </a:r>
            <a:r>
              <a:rPr lang="en-US" b="1" dirty="0"/>
              <a:t>8,000 face images</a:t>
            </a:r>
            <a:r>
              <a:rPr lang="en-US" dirty="0"/>
              <a:t> from the </a:t>
            </a:r>
            <a:r>
              <a:rPr lang="en-US" b="1" dirty="0" err="1"/>
              <a:t>CelebA</a:t>
            </a:r>
            <a:r>
              <a:rPr lang="en-US" b="1" dirty="0"/>
              <a:t> dataset</a:t>
            </a:r>
            <a:r>
              <a:rPr lang="en-US" dirty="0"/>
              <a:t>.</a:t>
            </a:r>
          </a:p>
          <a:p>
            <a:r>
              <a:rPr lang="en-US" dirty="0"/>
              <a:t>The target label was </a:t>
            </a:r>
            <a:r>
              <a:rPr lang="en-US" b="1" dirty="0"/>
              <a:t>Eyeglasses</a:t>
            </a:r>
            <a:r>
              <a:rPr lang="en-US" dirty="0"/>
              <a:t>.</a:t>
            </a:r>
          </a:p>
          <a:p>
            <a:r>
              <a:rPr lang="en-US" dirty="0"/>
              <a:t>Each image was resized to </a:t>
            </a:r>
            <a:r>
              <a:rPr lang="en-US" b="1" dirty="0"/>
              <a:t>64 × 64 pixels</a:t>
            </a:r>
            <a:r>
              <a:rPr lang="en-US" dirty="0"/>
              <a:t> before training.</a:t>
            </a:r>
          </a:p>
          <a:p>
            <a:r>
              <a:rPr lang="en-US" dirty="0"/>
              <a:t>I split the dataset into:</a:t>
            </a:r>
          </a:p>
          <a:p>
            <a:r>
              <a:rPr lang="en-US" b="1" dirty="0"/>
              <a:t>75% training data</a:t>
            </a:r>
            <a:br>
              <a:rPr lang="en-US" dirty="0"/>
            </a:br>
            <a:r>
              <a:rPr lang="en-US" b="1" dirty="0"/>
              <a:t>25% testing data</a:t>
            </a:r>
            <a:endParaRPr lang="en-US" dirty="0"/>
          </a:p>
          <a:p>
            <a:r>
              <a:rPr lang="en-US" dirty="0"/>
              <a:t>I used </a:t>
            </a:r>
            <a:r>
              <a:rPr lang="en-US" b="1" dirty="0"/>
              <a:t>stratified splitting</a:t>
            </a:r>
            <a:r>
              <a:rPr lang="en-US" dirty="0"/>
              <a:t> so both training and testing sets had a similar percentage of Eyeglasses and No Eyeglasses images. This was important because the dataset was imbalanced.</a:t>
            </a:r>
          </a:p>
        </p:txBody>
      </p:sp>
    </p:spTree>
    <p:extLst>
      <p:ext uri="{BB962C8B-B14F-4D97-AF65-F5344CB8AC3E}">
        <p14:creationId xmlns:p14="http://schemas.microsoft.com/office/powerpoint/2010/main" val="4066709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FAB9-56B5-A96D-78F3-2375968EA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35CC-FA7E-1043-8A6E-1927B592F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Before training, I applied preprocessing steps to prepare the images.</a:t>
            </a:r>
          </a:p>
          <a:p>
            <a:r>
              <a:rPr lang="en-US" b="1" dirty="0"/>
              <a:t>Resize to 64 × 64 pixels</a:t>
            </a:r>
            <a:br>
              <a:rPr lang="en-US" dirty="0"/>
            </a:br>
            <a:r>
              <a:rPr lang="en-US" dirty="0"/>
              <a:t>This made all images the same size.</a:t>
            </a:r>
          </a:p>
          <a:p>
            <a:r>
              <a:rPr lang="en-US" b="1" dirty="0" err="1"/>
              <a:t>RandomHorizontalFlip</a:t>
            </a:r>
            <a:br>
              <a:rPr lang="en-US" dirty="0"/>
            </a:br>
            <a:r>
              <a:rPr lang="en-US" dirty="0"/>
              <a:t>This created slightly different versions of training images and helped improve generalization.</a:t>
            </a:r>
          </a:p>
          <a:p>
            <a:r>
              <a:rPr lang="en-US" b="1" dirty="0" err="1"/>
              <a:t>ToTensor</a:t>
            </a:r>
            <a:br>
              <a:rPr lang="en-US" dirty="0"/>
            </a:br>
            <a:r>
              <a:rPr lang="en-US" dirty="0"/>
              <a:t>This converted images into tensor format for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r>
              <a:rPr lang="en-US" b="1" dirty="0"/>
              <a:t>Normalize with mean = 0.5 and std = 0.5</a:t>
            </a:r>
            <a:br>
              <a:rPr lang="en-US" dirty="0"/>
            </a:br>
            <a:r>
              <a:rPr lang="en-US" dirty="0"/>
              <a:t>This scaled pixel values around approximately </a:t>
            </a:r>
            <a:r>
              <a:rPr lang="en-US" b="1" dirty="0"/>
              <a:t>-1 to 1</a:t>
            </a:r>
            <a:r>
              <a:rPr lang="en-US" dirty="0"/>
              <a:t>, which helped the model train more smoothly.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7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199F2D-310F-8EB5-7655-4B030D152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5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1A4FB-3953-4001-2E1C-25BE1B44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Data Images </a:t>
            </a:r>
          </a:p>
        </p:txBody>
      </p:sp>
    </p:spTree>
    <p:extLst>
      <p:ext uri="{BB962C8B-B14F-4D97-AF65-F5344CB8AC3E}">
        <p14:creationId xmlns:p14="http://schemas.microsoft.com/office/powerpoint/2010/main" val="134684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2C7B-3C91-CA7B-7EAF-881DED8B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Compared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EAE2-FBBA-7AAE-6C8E-1748E6E5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 compared three models:</a:t>
            </a:r>
          </a:p>
          <a:p>
            <a:r>
              <a:rPr lang="en-US" b="1" dirty="0"/>
              <a:t>1. MLP Neural Network</a:t>
            </a:r>
            <a:br>
              <a:rPr lang="en-US" dirty="0"/>
            </a:br>
            <a:r>
              <a:rPr lang="en-US" dirty="0"/>
              <a:t>A simple baseline model.</a:t>
            </a:r>
          </a:p>
          <a:p>
            <a:r>
              <a:rPr lang="en-US" b="1" dirty="0"/>
              <a:t>2. CNN Image Recognition Model</a:t>
            </a:r>
            <a:br>
              <a:rPr lang="en-US" dirty="0"/>
            </a:br>
            <a:r>
              <a:rPr lang="en-US" dirty="0"/>
              <a:t>A strong computer vision model that learns local visual patterns.</a:t>
            </a:r>
          </a:p>
          <a:p>
            <a:r>
              <a:rPr lang="en-US" b="1" dirty="0"/>
              <a:t>3. Vision Transformer-style Model</a:t>
            </a:r>
            <a:br>
              <a:rPr lang="en-US" dirty="0"/>
            </a:br>
            <a:r>
              <a:rPr lang="en-US" dirty="0"/>
              <a:t>A modern transformer-based image model that uses image patches and self-attention.</a:t>
            </a:r>
          </a:p>
          <a:p>
            <a:pPr marL="0" indent="0">
              <a:buNone/>
            </a:pPr>
            <a:r>
              <a:rPr lang="en-US" dirty="0"/>
              <a:t>I used these three models to compare a simple approach, a traditional computer vision approach, and a modern AI approach.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7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C11B-D466-59A7-1943-3A562009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Settings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88F78-3BC3-89A1-EC65-5B3F96403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trained each model using the same settings for fair comparison.</a:t>
            </a:r>
          </a:p>
          <a:p>
            <a:r>
              <a:rPr lang="en-US" b="1" dirty="0"/>
              <a:t>Epochs:</a:t>
            </a:r>
            <a:r>
              <a:rPr lang="en-US" dirty="0"/>
              <a:t> 10</a:t>
            </a:r>
            <a:br>
              <a:rPr lang="en-US" dirty="0"/>
            </a:br>
            <a:r>
              <a:rPr lang="en-US" b="1" dirty="0"/>
              <a:t>Learning rate:</a:t>
            </a:r>
            <a:r>
              <a:rPr lang="en-US" dirty="0"/>
              <a:t> 0.001</a:t>
            </a:r>
            <a:br>
              <a:rPr lang="en-US"/>
            </a:br>
            <a:br>
              <a:rPr lang="en-US" dirty="0"/>
            </a:br>
            <a:r>
              <a:rPr lang="en-US" b="1" dirty="0"/>
              <a:t>Best model selection:</a:t>
            </a:r>
            <a:r>
              <a:rPr lang="en-US" dirty="0"/>
              <a:t> Highest F1-score</a:t>
            </a:r>
            <a:br>
              <a:rPr lang="en-US" dirty="0"/>
            </a:br>
            <a:r>
              <a:rPr lang="en-US" dirty="0"/>
              <a:t>An epoch means one full pass through the training dataset.</a:t>
            </a:r>
          </a:p>
          <a:p>
            <a:r>
              <a:rPr lang="en-US" dirty="0"/>
              <a:t>The learning rate controls how much the model updates its weights.</a:t>
            </a:r>
          </a:p>
          <a:p>
            <a:r>
              <a:rPr lang="en-US" dirty="0"/>
              <a:t>Adam was used because it is stable and commonly used in deep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0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D1F6-1550-3BD0-55A8-59DDE124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7D58D-910E-E5C2-A8F2-C1CB59B0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No Eyeglasses:</a:t>
            </a:r>
            <a:r>
              <a:rPr lang="en-US" dirty="0"/>
              <a:t> 5603</a:t>
            </a:r>
            <a:br>
              <a:rPr lang="en-US" dirty="0"/>
            </a:br>
            <a:r>
              <a:rPr lang="en-US" b="1" dirty="0"/>
              <a:t>Eyeglasses:</a:t>
            </a:r>
            <a:r>
              <a:rPr lang="en-US" dirty="0"/>
              <a:t> 397</a:t>
            </a:r>
          </a:p>
          <a:p>
            <a:r>
              <a:rPr lang="en-US" dirty="0"/>
              <a:t>Most images were No Eyeglasses, so accuracy alone could be misleading.</a:t>
            </a:r>
          </a:p>
          <a:p>
            <a:r>
              <a:rPr lang="en-US" dirty="0"/>
              <a:t>To handle this, I used class weights in </a:t>
            </a:r>
            <a:r>
              <a:rPr lang="en-US" b="1" dirty="0" err="1"/>
              <a:t>CrossEntropyLoss</a:t>
            </a:r>
            <a:r>
              <a:rPr lang="en-US" dirty="0"/>
              <a:t>.</a:t>
            </a:r>
          </a:p>
          <a:p>
            <a:r>
              <a:rPr lang="en-US" dirty="0"/>
              <a:t>Class weights:</a:t>
            </a:r>
          </a:p>
          <a:p>
            <a:r>
              <a:rPr lang="en-US" b="1" dirty="0"/>
              <a:t>No Eyeglasses:</a:t>
            </a:r>
            <a:r>
              <a:rPr lang="en-US" dirty="0"/>
              <a:t> 0.5354</a:t>
            </a:r>
            <a:br>
              <a:rPr lang="en-US" dirty="0"/>
            </a:br>
            <a:r>
              <a:rPr lang="en-US" b="1" dirty="0"/>
              <a:t>Eyeglasses:</a:t>
            </a:r>
            <a:r>
              <a:rPr lang="en-US" dirty="0"/>
              <a:t> 5.2897</a:t>
            </a:r>
          </a:p>
          <a:p>
            <a:r>
              <a:rPr lang="en-US" dirty="0"/>
              <a:t>The Eyeglasses class received a higher weight so the model would not ignore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48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6B52-61DB-A101-AEC9-F2CF8CC1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1DE8-291F-7EE0-F4CB-B81E8ECB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CNN Performance:</a:t>
            </a:r>
            <a:br>
              <a:rPr lang="en-US" dirty="0"/>
            </a:br>
            <a:r>
              <a:rPr lang="en-US" dirty="0"/>
              <a:t>• Accuracy = 97.15%</a:t>
            </a:r>
            <a:br>
              <a:rPr lang="en-US" dirty="0"/>
            </a:br>
            <a:r>
              <a:rPr lang="en-US" dirty="0"/>
              <a:t>• Precision = 81.5%</a:t>
            </a:r>
            <a:br>
              <a:rPr lang="en-US" dirty="0"/>
            </a:br>
            <a:r>
              <a:rPr lang="en-US" dirty="0"/>
              <a:t>• Recall = 73.5%</a:t>
            </a:r>
            <a:br>
              <a:rPr lang="en-US" dirty="0"/>
            </a:br>
            <a:r>
              <a:rPr lang="en-US" dirty="0"/>
              <a:t>• F1 Score = 77.3%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51887-19A9-8BB9-EAC7-CEF2C8F1C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818" y="3036587"/>
            <a:ext cx="4271010" cy="142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3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394AC-B1DD-003E-47AD-A817456F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 b="1"/>
              <a:t>Threshold Tuning and Improvement</a:t>
            </a:r>
            <a:br>
              <a:rPr lang="en-US" sz="3000" b="1"/>
            </a:br>
            <a:endParaRPr lang="en-US" sz="30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E9D8C5-9DF2-FE2F-0873-250374A1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I tested thresholds from:</a:t>
            </a:r>
          </a:p>
          <a:p>
            <a:pPr marL="0" indent="0">
              <a:buNone/>
            </a:pPr>
            <a:r>
              <a:rPr lang="en-US" sz="2200" b="1" dirty="0"/>
              <a:t>0.10 to 0.90</a:t>
            </a:r>
            <a:endParaRPr lang="en-US" sz="2200" dirty="0"/>
          </a:p>
          <a:p>
            <a:r>
              <a:rPr lang="en-US" sz="2200" dirty="0"/>
              <a:t>with step size:</a:t>
            </a:r>
          </a:p>
          <a:p>
            <a:pPr marL="0" indent="0">
              <a:buNone/>
            </a:pPr>
            <a:r>
              <a:rPr lang="en-US" sz="2200" b="1" dirty="0"/>
              <a:t>0.05</a:t>
            </a:r>
            <a:endParaRPr lang="en-US" sz="2200" dirty="0"/>
          </a:p>
          <a:p>
            <a:r>
              <a:rPr lang="en-US" sz="2200" dirty="0"/>
              <a:t>The best threshold was:</a:t>
            </a:r>
          </a:p>
          <a:p>
            <a:pPr marL="0" indent="0">
              <a:buNone/>
            </a:pPr>
            <a:r>
              <a:rPr lang="en-US" sz="2200" b="1" dirty="0"/>
              <a:t>0.30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860B97-5A41-663F-8A85-86BB9F39E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770839"/>
            <a:ext cx="5458968" cy="33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CD2C3-B65C-3BED-9189-10180AD97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After Threshold Tuning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989403-AE50-8C9B-901E-92F1C9BDD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2492" y="783864"/>
            <a:ext cx="5536001" cy="523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0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D37AE-CA77-30B4-AD11-4DF75BA9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F3AB2A-B959-FC5A-18F0-E8BDFF9D6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398" y="1675227"/>
            <a:ext cx="84912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4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D764B-1FBA-3AF5-6D9E-6066ECEE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Similarity Matching,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8EFAE9-0757-D3D1-4B61-0DC69575D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I compared regions such as:</a:t>
            </a:r>
          </a:p>
          <a:p>
            <a:pPr marL="0" indent="0">
              <a:buNone/>
            </a:pPr>
            <a:r>
              <a:rPr lang="en-US" dirty="0"/>
              <a:t>Hair region</a:t>
            </a:r>
            <a:br>
              <a:rPr lang="en-US" dirty="0"/>
            </a:br>
            <a:r>
              <a:rPr lang="en-US" dirty="0"/>
              <a:t>Eyes region</a:t>
            </a:r>
            <a:br>
              <a:rPr lang="en-US" dirty="0"/>
            </a:br>
            <a:r>
              <a:rPr lang="en-US" dirty="0"/>
              <a:t>Nose region</a:t>
            </a:r>
            <a:br>
              <a:rPr lang="en-US" dirty="0"/>
            </a:br>
            <a:r>
              <a:rPr lang="en-US" dirty="0"/>
              <a:t>Mouth region</a:t>
            </a:r>
            <a:br>
              <a:rPr lang="en-US" dirty="0"/>
            </a:br>
            <a:r>
              <a:rPr lang="en-US" dirty="0"/>
              <a:t>Full face region</a:t>
            </a:r>
          </a:p>
          <a:p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F2FCFB-5491-E707-704D-9A2850E1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22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527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FF8A1-1536-847E-BE23-BF2A61C5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Noise testing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1F16CC-ACC2-15CB-6064-F3E8B0D3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Noise testing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with noise levels </a:t>
            </a: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0.00, 0.05, 0.10, 0.20, and 0.30</a:t>
            </a: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to test robustness.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6721B0-F96F-86C9-A864-B958FB3E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43479"/>
            <a:ext cx="7214616" cy="474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01A9C1-8007-E702-F75D-8DE8D0B6F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3578" y="1576074"/>
            <a:ext cx="9664846" cy="352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28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AF23-5766-764C-D484-C4D6DF0E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0689-02DE-702A-B1FC-21C779C2A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27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585</Words>
  <Application>Microsoft Macintosh PowerPoint</Application>
  <PresentationFormat>Widescreen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Face Attribute Recognition Using Deep Learning Models</vt:lpstr>
      <vt:lpstr>Motivation</vt:lpstr>
      <vt:lpstr>Dataset and Data Split</vt:lpstr>
      <vt:lpstr>Data Preprocessing</vt:lpstr>
      <vt:lpstr>Data Images </vt:lpstr>
      <vt:lpstr>Models Compared </vt:lpstr>
      <vt:lpstr>Training Settings </vt:lpstr>
      <vt:lpstr>Class Imbalance Handling</vt:lpstr>
      <vt:lpstr>Evaluation Metrics and Results</vt:lpstr>
      <vt:lpstr>Threshold Tuning and Improvement </vt:lpstr>
      <vt:lpstr>After Threshold Tuning</vt:lpstr>
      <vt:lpstr>Result</vt:lpstr>
      <vt:lpstr>Similarity Matching,</vt:lpstr>
      <vt:lpstr>Noise testing 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Jashwanth Bheema</dc:creator>
  <cp:lastModifiedBy>Jashwanth Bheema</cp:lastModifiedBy>
  <cp:revision>4</cp:revision>
  <dcterms:created xsi:type="dcterms:W3CDTF">2026-06-13T19:21:34Z</dcterms:created>
  <dcterms:modified xsi:type="dcterms:W3CDTF">2026-06-13T20:54:38Z</dcterms:modified>
</cp:coreProperties>
</file>