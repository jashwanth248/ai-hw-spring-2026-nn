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37B2B-9438-3729-A752-F98655CF13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1D57AD-07BF-BB4D-2FD5-A2EDEAE2E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0F202-67EA-898F-C718-952414925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A1BAC-F72A-874B-95FE-18A501316A47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7FB88-004F-BE12-AAC2-0541F5019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9E77E-15B9-897D-C519-CBE4B149E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E036B-AFD3-5645-B112-BEDE1FAEF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894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36CEA-3D07-B570-952B-7E3B3D327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8A359-AE5D-BAC7-9B07-05EACF8D7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BE61B-E2AA-73D9-2143-B97589FE0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A1BAC-F72A-874B-95FE-18A501316A47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5D827-0AE1-8415-D636-9D484D8B1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6B755-255C-0C17-5CE0-7BEF3E80F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E036B-AFD3-5645-B112-BEDE1FAEF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257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B23FA-2A27-41EB-6A78-D2F03CB21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6D000-C35D-F09F-E922-A59D29D64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63D50-8665-DA40-D9D5-14AA4FB89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A1BAC-F72A-874B-95FE-18A501316A47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C564F-35A0-458F-9F17-83FAF04D0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52B19-040A-70FB-61CA-464FBC092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E036B-AFD3-5645-B112-BEDE1FAEF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956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D34E6-41BD-F711-1679-BD964F079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DC74D-4C03-3281-7F79-EFA2D2E70C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3BB48F-9472-FFA7-0C25-FA51360361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3ECB71-9E01-84E0-2F5D-8CD44C643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A1BAC-F72A-874B-95FE-18A501316A47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EBAA59-15D5-F109-1114-1594A8644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321E16-D7D3-9E44-0D9D-C9FE63879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E036B-AFD3-5645-B112-BEDE1FAEF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425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5CBB7-CFA3-3851-8E6B-736093781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26586-048E-A01F-2E94-B817D8D41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1FFC79-101A-855E-D854-124E5EE137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22FEF4-06B9-93BE-067E-F19494F6E1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C7A7E8-1D9D-8040-C79C-5C936C5059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509101-1BB9-DC58-F1F3-A0038A8AA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A1BAC-F72A-874B-95FE-18A501316A47}" type="datetimeFigureOut">
              <a:rPr lang="en-US" smtClean="0"/>
              <a:t>6/12/26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F4BF8B-B7B4-2557-6BB0-723B3CDAD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4664C0-9C2D-0CD0-E7CE-3082D67E9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E036B-AFD3-5645-B112-BEDE1FAEF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99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97A4A-F97F-B400-345D-548B382CC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C5ED08-7CC6-A922-7BAA-6354C3F82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A1BAC-F72A-874B-95FE-18A501316A47}" type="datetimeFigureOut">
              <a:rPr lang="en-US" smtClean="0"/>
              <a:t>6/12/26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FD0540-A458-599E-E5F7-2F108CC52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C53E65-9E23-EDB8-0A3D-5110E8A5F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E036B-AFD3-5645-B112-BEDE1FAEF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428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B6699F-E7B4-974A-10AF-246037CD9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A1BAC-F72A-874B-95FE-18A501316A47}" type="datetimeFigureOut">
              <a:rPr lang="en-US" smtClean="0"/>
              <a:t>6/12/26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3AC9F5-7386-26AB-9221-EAD5D816E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2BA83-8597-15B2-6828-8255E123A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E036B-AFD3-5645-B112-BEDE1FAEF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62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1FFE2-0095-A7BF-DD07-2588F1A97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D0CAA-BC89-FECB-6835-BCB73F267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3A7976-2A63-3CA1-B363-6D0976BEC1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1F1E9D-3061-9159-CE4B-759B4663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A1BAC-F72A-874B-95FE-18A501316A47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BD5444-2BBF-9762-3345-F8E47F9A4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44736D-64EA-B09A-6188-138928D6D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E036B-AFD3-5645-B112-BEDE1FAEF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91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BC1E3-DEC7-F1E1-30C0-715431669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EFBD5A-AA2E-6697-1766-246838F7A0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777BBE-7BC9-94D8-71E4-C05200F02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E264D5-5B7B-37C0-EC4C-A701871AB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A1BAC-F72A-874B-95FE-18A501316A47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96D71C-FD37-E961-C38B-34B301B92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59A4E2-F446-1BAA-7FA7-CCD8AC90B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E036B-AFD3-5645-B112-BEDE1FAEF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516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62250-FAE5-4E37-8364-AB53A970E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AAB809-154D-AA21-FAA4-4FE8BC27B6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F583F-E2A0-00CE-6732-12FD5896F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A1BAC-F72A-874B-95FE-18A501316A47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5D340-3F55-CDD6-44E5-CCB7F30C6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DD606-537E-9CD0-4F4C-3BF2C26D0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E036B-AFD3-5645-B112-BEDE1FAEF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47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A525B9-2F2D-00E5-6E49-257463D370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945733-37E0-65D6-2880-E6C992D18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EBF24-28FA-0787-F969-AFFF44045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A1BAC-F72A-874B-95FE-18A501316A47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692E3-3EB4-9C6A-7894-3AD9496AC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AD50C-6396-4300-C76C-6CBBA7845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E036B-AFD3-5645-B112-BEDE1FAEF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421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786BB1-B682-AB4E-CE63-FA0EA06E5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70F0C-2851-6F0C-CB51-1B0B62C5C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3BB3E-6068-A427-BC14-50B58668CE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0A1BAC-F72A-874B-95FE-18A501316A47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F1A17-78F3-3517-0929-C822AA821C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6B80A-B25D-F9B2-C024-8B98D4A349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CE036B-AFD3-5645-B112-BEDE1FAEF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637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0A8530-0CE5-BFED-A1CC-EA85E0C1E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br>
              <a:rPr lang="en-US" sz="3200" dirty="0">
                <a:solidFill>
                  <a:srgbClr val="FFFFFF"/>
                </a:solidFill>
              </a:rPr>
            </a:br>
            <a:br>
              <a:rPr lang="en-US" sz="3200" dirty="0">
                <a:solidFill>
                  <a:srgbClr val="FFFFFF"/>
                </a:solidFill>
              </a:rPr>
            </a:br>
            <a:r>
              <a:rPr lang="en-US" sz="3200" dirty="0">
                <a:solidFill>
                  <a:srgbClr val="FFFFFF"/>
                </a:solidFill>
              </a:rPr>
              <a:t>Adversarial Attacks on Neural Networks</a:t>
            </a:r>
            <a:br>
              <a:rPr lang="en-US" sz="3200" dirty="0">
                <a:solidFill>
                  <a:srgbClr val="FFFFFF"/>
                </a:solidFill>
              </a:rPr>
            </a:br>
            <a:r>
              <a:rPr lang="en-US" sz="3200" dirty="0">
                <a:solidFill>
                  <a:srgbClr val="FFFFFF"/>
                </a:solidFill>
              </a:rPr>
              <a:t>Prepared by: Jashwanth Bheema</a:t>
            </a:r>
            <a:br>
              <a:rPr lang="en-US" sz="3200" dirty="0">
                <a:solidFill>
                  <a:srgbClr val="FFFFFF"/>
                </a:solidFill>
              </a:rPr>
            </a:br>
            <a:r>
              <a:rPr lang="en-US" sz="3200" dirty="0">
                <a:solidFill>
                  <a:srgbClr val="FFFFFF"/>
                </a:solidFill>
              </a:rPr>
              <a:t>Course: Artificial Intelligence</a:t>
            </a:r>
            <a:br>
              <a:rPr lang="en-US" sz="3200" dirty="0">
                <a:solidFill>
                  <a:srgbClr val="FFFFFF"/>
                </a:solidFill>
              </a:rPr>
            </a:br>
            <a:r>
              <a:rPr lang="en-US" sz="3200" dirty="0">
                <a:solidFill>
                  <a:srgbClr val="FFFFFF"/>
                </a:solidFill>
              </a:rPr>
              <a:t>Professor: Dr. Aleksandr Petiushko</a:t>
            </a:r>
          </a:p>
        </p:txBody>
      </p:sp>
      <p:sp>
        <p:nvSpPr>
          <p:cNvPr id="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024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47B0DF-5195-C696-5621-F07A9EDDC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What is an Adversarial Attack?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DBE0C-AF8C-CBC2-4CC1-8BF39D4CA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/>
              <a:t>An adversarial attack is a small intentional change added to an input image to make a neural network predict the wrong class.</a:t>
            </a:r>
          </a:p>
          <a:p>
            <a:r>
              <a:rPr lang="en-US" sz="2000" b="1"/>
              <a:t>Key idea:</a:t>
            </a:r>
            <a:br>
              <a:rPr lang="en-US" sz="2000"/>
            </a:br>
            <a:r>
              <a:rPr lang="en-US" sz="2000"/>
              <a:t>The image looks almost the same to humans, but the model sees it differently.</a:t>
            </a:r>
          </a:p>
          <a:p>
            <a:r>
              <a:rPr lang="en-US" sz="2000" b="1"/>
              <a:t>Example:</a:t>
            </a:r>
            <a:br>
              <a:rPr lang="en-US" sz="2000"/>
            </a:br>
            <a:r>
              <a:rPr lang="en-US" sz="2000"/>
              <a:t>A panda image can be slightly changed so the model predicts it as a gibbon.</a:t>
            </a:r>
          </a:p>
          <a:p>
            <a:r>
              <a:rPr lang="en-US" sz="2000" b="1"/>
              <a:t>What to say:</a:t>
            </a:r>
            <a:br>
              <a:rPr lang="en-US" sz="2000"/>
            </a:br>
            <a:r>
              <a:rPr lang="en-US" sz="2000"/>
              <a:t>Adversarial attacks show that neural networks can be sensitive to tiny changes. Humans may not notice the difference, but the model prediction can completely change.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036047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13A89F-9097-3A18-06FE-BB76C8177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Why Attacks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686D4-DE51-9896-0BB5-272D1741F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/>
              <a:t>Neural networks learn decision boundaries between classes.</a:t>
            </a:r>
          </a:p>
          <a:p>
            <a:r>
              <a:rPr lang="en-US" sz="2000"/>
              <a:t>A small perturbation can move an image across the decision boundary.</a:t>
            </a:r>
          </a:p>
          <a:p>
            <a:r>
              <a:rPr lang="en-US" sz="2000" b="1"/>
              <a:t>Process:</a:t>
            </a:r>
            <a:br>
              <a:rPr lang="en-US" sz="2000"/>
            </a:br>
            <a:r>
              <a:rPr lang="en-US" sz="2000"/>
              <a:t>Original image → small noise → crosses boundary → wrong prediction</a:t>
            </a:r>
          </a:p>
          <a:p>
            <a:r>
              <a:rPr lang="en-US" sz="2000" b="1"/>
              <a:t>What to say:</a:t>
            </a:r>
            <a:br>
              <a:rPr lang="en-US" sz="2000"/>
            </a:br>
            <a:r>
              <a:rPr lang="en-US" sz="2000"/>
              <a:t>The model does not understand images like humans do. It uses mathematical patterns. If a small pixel change moves the input into another class region, the model makes a wrong prediction.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991604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38F65-04D2-2C9F-50F9-0C362A1BA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Goal of the Attack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B70AA-C5BB-6D78-390D-5692000C7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/>
              <a:t>The goal is to cause misclassification with minimum visible change.</a:t>
            </a:r>
          </a:p>
          <a:p>
            <a:r>
              <a:rPr lang="en-US" sz="2000"/>
              <a:t>A successful attack means:</a:t>
            </a:r>
          </a:p>
          <a:p>
            <a:r>
              <a:rPr lang="en-US" sz="2000"/>
              <a:t>Original image is predicted correctly.</a:t>
            </a:r>
            <a:br>
              <a:rPr lang="en-US" sz="2000"/>
            </a:br>
            <a:r>
              <a:rPr lang="en-US" sz="2000"/>
              <a:t>Adversarial image is predicted incorrectly.</a:t>
            </a:r>
            <a:br>
              <a:rPr lang="en-US" sz="2000"/>
            </a:br>
            <a:r>
              <a:rPr lang="en-US" sz="2000"/>
              <a:t>Noise is small and hard to see.</a:t>
            </a:r>
          </a:p>
          <a:p>
            <a:r>
              <a:rPr lang="en-US" sz="2000" b="1"/>
              <a:t>What to say:</a:t>
            </a:r>
            <a:br>
              <a:rPr lang="en-US" sz="2000"/>
            </a:br>
            <a:r>
              <a:rPr lang="en-US" sz="2000"/>
              <a:t>The attacker wants the image to still look normal, but the neural network should fail. This makes adversarial attacks dangerous because the change can be almost invisible.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459309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FCA3A7-CC1B-3F30-ED71-D640F1A7E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FGSM Attack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9A795-E950-7124-DE0D-CB5510F9A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1900" b="1"/>
              <a:t>FGSM = Fast Gradient Sign Method</a:t>
            </a:r>
            <a:endParaRPr lang="en-US" sz="1900"/>
          </a:p>
          <a:p>
            <a:r>
              <a:rPr lang="en-US" sz="1900"/>
              <a:t>Formula:</a:t>
            </a:r>
          </a:p>
          <a:p>
            <a:r>
              <a:rPr lang="en-US" sz="1900" b="1"/>
              <a:t>x_adv = x + ε sign(∇x J(θ, x, y))</a:t>
            </a:r>
            <a:endParaRPr lang="en-US" sz="1900"/>
          </a:p>
          <a:p>
            <a:r>
              <a:rPr lang="en-US" sz="1900"/>
              <a:t>Meaning:</a:t>
            </a:r>
          </a:p>
          <a:p>
            <a:r>
              <a:rPr lang="en-US" sz="1900" b="1"/>
              <a:t>x</a:t>
            </a:r>
            <a:r>
              <a:rPr lang="en-US" sz="1900"/>
              <a:t> = original image</a:t>
            </a:r>
            <a:br>
              <a:rPr lang="en-US" sz="1900"/>
            </a:br>
            <a:r>
              <a:rPr lang="en-US" sz="1900" b="1"/>
              <a:t>ε</a:t>
            </a:r>
            <a:r>
              <a:rPr lang="en-US" sz="1900"/>
              <a:t> = perturbation strength</a:t>
            </a:r>
            <a:br>
              <a:rPr lang="en-US" sz="1900"/>
            </a:br>
            <a:r>
              <a:rPr lang="en-US" sz="1900" b="1"/>
              <a:t>gradient</a:t>
            </a:r>
            <a:r>
              <a:rPr lang="en-US" sz="1900"/>
              <a:t> = direction that increases model error</a:t>
            </a:r>
            <a:br>
              <a:rPr lang="en-US" sz="1900"/>
            </a:br>
            <a:r>
              <a:rPr lang="en-US" sz="1900" b="1"/>
              <a:t>x_adv</a:t>
            </a:r>
            <a:r>
              <a:rPr lang="en-US" sz="1900"/>
              <a:t> = adversarial image</a:t>
            </a:r>
          </a:p>
          <a:p>
            <a:r>
              <a:rPr lang="en-US" sz="1900" b="1"/>
              <a:t>What to say:</a:t>
            </a:r>
            <a:br>
              <a:rPr lang="en-US" sz="1900"/>
            </a:br>
            <a:r>
              <a:rPr lang="en-US" sz="1900"/>
              <a:t>FGSM uses one gradient step to attack the model. The epsilon value controls how strong the attack is. A small epsilon creates a small change, while a large epsilon creates a stronger attack.</a:t>
            </a:r>
          </a:p>
          <a:p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896593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FAE7C7-8689-A32A-61B2-E42F8BD70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Iterative Attacks: I-FGSM and PGD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C372D-67F6-A0B0-9C09-A188A179E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000"/>
              <a:t>Iterative attacks apply multiple smaller FGSM-like steps.</a:t>
            </a:r>
          </a:p>
          <a:p>
            <a:r>
              <a:rPr lang="en-US" sz="2000" b="1"/>
              <a:t>Process:</a:t>
            </a:r>
            <a:br>
              <a:rPr lang="en-US" sz="2000"/>
            </a:br>
            <a:r>
              <a:rPr lang="en-US" sz="2000"/>
              <a:t>Compute gradient</a:t>
            </a:r>
            <a:br>
              <a:rPr lang="en-US" sz="2000"/>
            </a:br>
            <a:r>
              <a:rPr lang="en-US" sz="2000"/>
              <a:t>Update image slightly</a:t>
            </a:r>
            <a:br>
              <a:rPr lang="en-US" sz="2000"/>
            </a:br>
            <a:r>
              <a:rPr lang="en-US" sz="2000"/>
              <a:t>Repeat many times</a:t>
            </a:r>
            <a:br>
              <a:rPr lang="en-US" sz="2000"/>
            </a:br>
            <a:r>
              <a:rPr lang="en-US" sz="2000"/>
              <a:t>Clip image to allowed range</a:t>
            </a:r>
          </a:p>
          <a:p>
            <a:r>
              <a:rPr lang="en-US" sz="2000" b="1"/>
              <a:t>Why stronger?</a:t>
            </a:r>
            <a:br>
              <a:rPr lang="en-US" sz="2000"/>
            </a:br>
            <a:r>
              <a:rPr lang="en-US" sz="2000"/>
              <a:t>They refine the perturbation step by step.</a:t>
            </a:r>
          </a:p>
          <a:p>
            <a:r>
              <a:rPr lang="en-US" sz="2000" b="1"/>
              <a:t>What to say:</a:t>
            </a:r>
            <a:br>
              <a:rPr lang="en-US" sz="2000"/>
            </a:br>
            <a:r>
              <a:rPr lang="en-US" sz="2000"/>
              <a:t>FGSM attacks the image in one step. Iterative attacks are stronger because they improve the perturbation over several steps. PGD is one of the strongest white-box attacks.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473626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86EBBF-4182-6C77-DA2A-CDF6E3393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Momentum Iterative FGSM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E6758-B033-C6AD-0E8D-E35A2D1FB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200" b="1"/>
              <a:t>MI-FGSM = Momentum Iterative FGSM</a:t>
            </a:r>
            <a:endParaRPr lang="en-US" sz="2200"/>
          </a:p>
          <a:p>
            <a:r>
              <a:rPr lang="en-US" sz="2200"/>
              <a:t>Main idea:</a:t>
            </a:r>
            <a:br>
              <a:rPr lang="en-US" sz="2200"/>
            </a:br>
            <a:r>
              <a:rPr lang="en-US" sz="2200"/>
              <a:t>Add momentum to gradient updates.</a:t>
            </a:r>
          </a:p>
          <a:p>
            <a:r>
              <a:rPr lang="en-US" sz="2200" b="1"/>
              <a:t>Benefits:</a:t>
            </a:r>
            <a:br>
              <a:rPr lang="en-US" sz="2200"/>
            </a:br>
            <a:r>
              <a:rPr lang="en-US" sz="2200"/>
              <a:t>More stable attack direction</a:t>
            </a:r>
            <a:br>
              <a:rPr lang="en-US" sz="2200"/>
            </a:br>
            <a:r>
              <a:rPr lang="en-US" sz="2200"/>
              <a:t>Stronger attack</a:t>
            </a:r>
            <a:br>
              <a:rPr lang="en-US" sz="2200"/>
            </a:br>
            <a:r>
              <a:rPr lang="en-US" sz="2200"/>
              <a:t>Better transferability between models</a:t>
            </a:r>
          </a:p>
          <a:p>
            <a:r>
              <a:rPr lang="en-US" sz="2200" b="1"/>
              <a:t>What to say:</a:t>
            </a:r>
            <a:br>
              <a:rPr lang="en-US" sz="2200"/>
            </a:br>
            <a:r>
              <a:rPr lang="en-US" sz="2200"/>
              <a:t>Momentum helps the attack remember previous gradient directions. This makes the attack more stable and can help it fool not only one model, but sometimes other models too.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792640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048426-C2D2-C620-6312-4FD460295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Attack Comparison and ASR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10FD149-8102-D1DB-45D0-401922061E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2282461"/>
              </p:ext>
            </p:extLst>
          </p:nvPr>
        </p:nvGraphicFramePr>
        <p:xfrm>
          <a:off x="248640" y="1691514"/>
          <a:ext cx="6279751" cy="4921938"/>
        </p:xfrm>
        <a:graphic>
          <a:graphicData uri="http://schemas.openxmlformats.org/drawingml/2006/table">
            <a:tbl>
              <a:tblPr/>
              <a:tblGrid>
                <a:gridCol w="2036490">
                  <a:extLst>
                    <a:ext uri="{9D8B030D-6E8A-4147-A177-3AD203B41FA5}">
                      <a16:colId xmlns:a16="http://schemas.microsoft.com/office/drawing/2014/main" val="422043027"/>
                    </a:ext>
                  </a:extLst>
                </a:gridCol>
                <a:gridCol w="1864174">
                  <a:extLst>
                    <a:ext uri="{9D8B030D-6E8A-4147-A177-3AD203B41FA5}">
                      <a16:colId xmlns:a16="http://schemas.microsoft.com/office/drawing/2014/main" val="1510972636"/>
                    </a:ext>
                  </a:extLst>
                </a:gridCol>
                <a:gridCol w="2379087">
                  <a:extLst>
                    <a:ext uri="{9D8B030D-6E8A-4147-A177-3AD203B41FA5}">
                      <a16:colId xmlns:a16="http://schemas.microsoft.com/office/drawing/2014/main" val="424150978"/>
                    </a:ext>
                  </a:extLst>
                </a:gridCol>
              </a:tblGrid>
              <a:tr h="762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dirty="0"/>
                        <a:t>Attack</a:t>
                      </a:r>
                    </a:p>
                  </a:txBody>
                  <a:tcPr marL="166068" marR="166068" marT="83034" marB="830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dirty="0"/>
                        <a:t>Speed</a:t>
                      </a:r>
                    </a:p>
                  </a:txBody>
                  <a:tcPr marL="166068" marR="166068" marT="83034" marB="830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Strength</a:t>
                      </a:r>
                    </a:p>
                  </a:txBody>
                  <a:tcPr marL="166068" marR="166068" marT="83034" marB="830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8202783"/>
                  </a:ext>
                </a:extLst>
              </a:tr>
              <a:tr h="762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FGSM</a:t>
                      </a:r>
                    </a:p>
                  </a:txBody>
                  <a:tcPr marL="166068" marR="166068" marT="83034" marB="830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Fast</a:t>
                      </a:r>
                    </a:p>
                  </a:txBody>
                  <a:tcPr marL="166068" marR="166068" marT="83034" marB="830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Medium</a:t>
                      </a:r>
                    </a:p>
                  </a:txBody>
                  <a:tcPr marL="166068" marR="166068" marT="83034" marB="830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307826"/>
                  </a:ext>
                </a:extLst>
              </a:tr>
              <a:tr h="1132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I-FGSM</a:t>
                      </a:r>
                    </a:p>
                  </a:txBody>
                  <a:tcPr marL="166068" marR="166068" marT="83034" marB="830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dirty="0"/>
                        <a:t>Medium</a:t>
                      </a:r>
                    </a:p>
                  </a:txBody>
                  <a:tcPr marL="166068" marR="166068" marT="83034" marB="830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dirty="0"/>
                        <a:t>Strong</a:t>
                      </a:r>
                    </a:p>
                  </a:txBody>
                  <a:tcPr marL="166068" marR="166068" marT="83034" marB="830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958597"/>
                  </a:ext>
                </a:extLst>
              </a:tr>
              <a:tr h="1132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PGD</a:t>
                      </a:r>
                    </a:p>
                  </a:txBody>
                  <a:tcPr marL="166068" marR="166068" marT="83034" marB="830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dirty="0"/>
                        <a:t>Slow</a:t>
                      </a:r>
                    </a:p>
                  </a:txBody>
                  <a:tcPr marL="166068" marR="166068" marT="83034" marB="830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Very Strong</a:t>
                      </a:r>
                    </a:p>
                  </a:txBody>
                  <a:tcPr marL="166068" marR="166068" marT="83034" marB="830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801936"/>
                  </a:ext>
                </a:extLst>
              </a:tr>
              <a:tr h="1132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MI-FGSM</a:t>
                      </a:r>
                    </a:p>
                  </a:txBody>
                  <a:tcPr marL="166068" marR="166068" marT="83034" marB="830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Medium</a:t>
                      </a:r>
                    </a:p>
                  </a:txBody>
                  <a:tcPr marL="166068" marR="166068" marT="83034" marB="830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dirty="0"/>
                        <a:t>Very Strong</a:t>
                      </a:r>
                    </a:p>
                  </a:txBody>
                  <a:tcPr marL="166068" marR="166068" marT="83034" marB="830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36603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F609866-E21B-1B61-F639-BC53626790A1}"/>
              </a:ext>
            </a:extLst>
          </p:cNvPr>
          <p:cNvSpPr txBox="1"/>
          <p:nvPr/>
        </p:nvSpPr>
        <p:spPr>
          <a:xfrm>
            <a:off x="6198781" y="2360139"/>
            <a:ext cx="542260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ASR = Attack Success Rate</a:t>
            </a:r>
            <a:endParaRPr lang="en-US" dirty="0"/>
          </a:p>
          <a:p>
            <a:r>
              <a:rPr lang="en-US" b="1" dirty="0"/>
              <a:t>ASR = Successful Attacks / Total Attack Samples × 100</a:t>
            </a:r>
            <a:endParaRPr lang="en-US" dirty="0"/>
          </a:p>
          <a:p>
            <a:br>
              <a:rPr lang="en-US" dirty="0"/>
            </a:br>
            <a:r>
              <a:rPr lang="en-US" dirty="0"/>
              <a:t>FGSM is fast but not the strongest. PGD and MI-FGSM are stronger because they use multiple updates. ASR tells us how many images were successfully fooled by the attack.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696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42BFF-67CD-3AAF-A1EC-3145118D8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3700">
                <a:solidFill>
                  <a:schemeClr val="bg1"/>
                </a:solidFill>
              </a:rPr>
              <a:t>Defense, Challenges, and Real-World Importance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66066-EBA4-9DAD-B0B8-B2E03784C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1700" b="1"/>
              <a:t>Defense:</a:t>
            </a:r>
            <a:br>
              <a:rPr lang="en-US" sz="1700"/>
            </a:br>
            <a:r>
              <a:rPr lang="en-US" sz="1700"/>
              <a:t>Adversarial training uses clean images and adversarial images during training.</a:t>
            </a:r>
          </a:p>
          <a:p>
            <a:r>
              <a:rPr lang="en-US" sz="1700" b="1"/>
              <a:t>Challenge:</a:t>
            </a:r>
            <a:br>
              <a:rPr lang="en-US" sz="1700"/>
            </a:br>
            <a:r>
              <a:rPr lang="en-US" sz="1700"/>
              <a:t>The perturbation search space is extremely large, so it is impossible to test every possible attack.</a:t>
            </a:r>
          </a:p>
          <a:p>
            <a:r>
              <a:rPr lang="en-US" sz="1700" b="1"/>
              <a:t>Applications:</a:t>
            </a:r>
            <a:br>
              <a:rPr lang="en-US" sz="1700"/>
            </a:br>
            <a:r>
              <a:rPr lang="en-US" sz="1700"/>
              <a:t>Self-driving cars</a:t>
            </a:r>
            <a:br>
              <a:rPr lang="en-US" sz="1700"/>
            </a:br>
            <a:r>
              <a:rPr lang="en-US" sz="1700"/>
              <a:t>Medical imaging</a:t>
            </a:r>
            <a:br>
              <a:rPr lang="en-US" sz="1700"/>
            </a:br>
            <a:r>
              <a:rPr lang="en-US" sz="1700"/>
              <a:t>Facial recognition</a:t>
            </a:r>
            <a:br>
              <a:rPr lang="en-US" sz="1700"/>
            </a:br>
            <a:r>
              <a:rPr lang="en-US" sz="1700"/>
              <a:t>Security systems</a:t>
            </a:r>
          </a:p>
          <a:p>
            <a:r>
              <a:rPr lang="en-US" sz="1700" b="1"/>
              <a:t>What to say:</a:t>
            </a:r>
            <a:br>
              <a:rPr lang="en-US" sz="1700"/>
            </a:br>
            <a:r>
              <a:rPr lang="en-US" sz="1700"/>
              <a:t>Adversarial training can improve robustness, but defense is still difficult. This matters because AI is used in safety-critical areas. High accuracy is not enough; models also need to be robust and reliable.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1416465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693</Words>
  <Application>Microsoft Macintosh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  Adversarial Attacks on Neural Networks Prepared by: Jashwanth Bheema Course: Artificial Intelligence Professor: Dr. Aleksandr Petiushko</vt:lpstr>
      <vt:lpstr>What is an Adversarial Attack?</vt:lpstr>
      <vt:lpstr>Why Attacks Work</vt:lpstr>
      <vt:lpstr>Goal of the Attack</vt:lpstr>
      <vt:lpstr>FGSM Attack</vt:lpstr>
      <vt:lpstr>Iterative Attacks: I-FGSM and PGD</vt:lpstr>
      <vt:lpstr>Momentum Iterative FGSM</vt:lpstr>
      <vt:lpstr>Attack Comparison and ASR</vt:lpstr>
      <vt:lpstr>Defense, Challenges, and Real-World Importance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Jashwanth Bheema</dc:creator>
  <cp:lastModifiedBy>Jashwanth Bheema</cp:lastModifiedBy>
  <cp:revision>1</cp:revision>
  <dcterms:created xsi:type="dcterms:W3CDTF">2026-06-13T06:53:47Z</dcterms:created>
  <dcterms:modified xsi:type="dcterms:W3CDTF">2026-06-13T07:01:12Z</dcterms:modified>
</cp:coreProperties>
</file>