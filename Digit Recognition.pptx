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6" r:id="rId9"/>
    <p:sldId id="265" r:id="rId10"/>
    <p:sldId id="263" r:id="rId11"/>
    <p:sldId id="267" r:id="rId12"/>
    <p:sldId id="268" r:id="rId13"/>
    <p:sldId id="274" r:id="rId14"/>
    <p:sldId id="270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smtClean="0"/>
              <a:t>5/30/26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smtClean="0"/>
              <a:t>5/30/26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5077D6-9A91-262B-2329-81CC2F6BE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60" y="643468"/>
            <a:ext cx="9966960" cy="3592432"/>
          </a:xfrm>
        </p:spPr>
        <p:txBody>
          <a:bodyPr>
            <a:normAutofit/>
          </a:bodyPr>
          <a:lstStyle/>
          <a:p>
            <a:r>
              <a:rPr lang="en-US" sz="6700"/>
              <a:t>Handwritten Digit Recognition Using Deep Learning Models and Adversarial Attacks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12192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45590" y="5111496"/>
            <a:ext cx="1080904" cy="1080902"/>
            <a:chOff x="10245590" y="5111496"/>
            <a:chExt cx="1080904" cy="1080902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281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EA84B-71E0-7D4C-FA50-42EB6CB9C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6757" y="556054"/>
            <a:ext cx="10201491" cy="5616146"/>
          </a:xfrm>
        </p:spPr>
        <p:txBody>
          <a:bodyPr/>
          <a:lstStyle/>
          <a:p>
            <a:r>
              <a:rPr lang="en-US" b="1" dirty="0"/>
              <a:t>Dataset:</a:t>
            </a:r>
            <a:r>
              <a:rPr lang="en-US" dirty="0"/>
              <a:t> MNIST Handwritten Digits Dataset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Models Used:</a:t>
            </a:r>
            <a:endParaRPr lang="en-US" dirty="0"/>
          </a:p>
          <a:p>
            <a:r>
              <a:rPr lang="en-US" dirty="0"/>
              <a:t>Multi-Layer Perceptron (MLP)</a:t>
            </a:r>
          </a:p>
          <a:p>
            <a:r>
              <a:rPr lang="en-US" dirty="0"/>
              <a:t>Convolutional Neural Network (CNN)</a:t>
            </a:r>
          </a:p>
          <a:p>
            <a:r>
              <a:rPr lang="en-US" dirty="0"/>
              <a:t>Transformer Encoder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Adversarial Attacks:</a:t>
            </a:r>
            <a:endParaRPr lang="en-US" dirty="0"/>
          </a:p>
          <a:p>
            <a:r>
              <a:rPr lang="en-US" dirty="0"/>
              <a:t>Fast Gradient Sign Method (FGSM)</a:t>
            </a:r>
          </a:p>
          <a:p>
            <a:r>
              <a:rPr lang="en-US" dirty="0"/>
              <a:t>Projected Gradient Descent (PGD)</a:t>
            </a:r>
          </a:p>
          <a:p>
            <a:r>
              <a:rPr lang="en-US" dirty="0"/>
              <a:t>Momentum Iterative FGSM (MI-FGSM)</a:t>
            </a:r>
          </a:p>
        </p:txBody>
      </p:sp>
    </p:spTree>
    <p:extLst>
      <p:ext uri="{BB962C8B-B14F-4D97-AF65-F5344CB8AC3E}">
        <p14:creationId xmlns:p14="http://schemas.microsoft.com/office/powerpoint/2010/main" val="2183637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9E5AF-3B45-88D9-C92E-15D342C2A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Dataset (MNIST)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2D73E-7C04-D3B6-B745-31EFC64C0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8852628" cy="3921046"/>
          </a:xfrm>
        </p:spPr>
        <p:txBody>
          <a:bodyPr>
            <a:normAutofit/>
          </a:bodyPr>
          <a:lstStyle/>
          <a:p>
            <a:r>
              <a:rPr lang="en-US" dirty="0"/>
              <a:t>The MNIST dataset contains 70,000 grayscale images of handwritten digits.</a:t>
            </a:r>
          </a:p>
          <a:p>
            <a:r>
              <a:rPr lang="en-US" dirty="0"/>
              <a:t>Training Images: 60,000</a:t>
            </a:r>
          </a:p>
          <a:p>
            <a:r>
              <a:rPr lang="en-US" dirty="0"/>
              <a:t>Testing Images: 10,000</a:t>
            </a:r>
          </a:p>
          <a:p>
            <a:r>
              <a:rPr lang="en-US" dirty="0"/>
              <a:t>Image Size: 28 × 28 pixels</a:t>
            </a:r>
          </a:p>
          <a:p>
            <a:r>
              <a:rPr lang="en-US" dirty="0"/>
              <a:t>Classes: Digits 0 through 9</a:t>
            </a:r>
          </a:p>
          <a:p>
            <a:r>
              <a:rPr lang="en-US" dirty="0"/>
              <a:t>The training set was used for learning, while the testing set was used as a final exam to evaluate model performance on images that were never seen during training.</a:t>
            </a:r>
          </a:p>
          <a:p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FFF5257-A2D2-624A-7B69-F425B1719C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5787131"/>
              </p:ext>
            </p:extLst>
          </p:nvPr>
        </p:nvGraphicFramePr>
        <p:xfrm>
          <a:off x="6697387" y="3076956"/>
          <a:ext cx="4088554" cy="2212848"/>
        </p:xfrm>
        <a:graphic>
          <a:graphicData uri="http://schemas.openxmlformats.org/drawingml/2006/table">
            <a:tbl>
              <a:tblPr firstRow="1" bandRow="1"/>
              <a:tblGrid>
                <a:gridCol w="2137410">
                  <a:extLst>
                    <a:ext uri="{9D8B030D-6E8A-4147-A177-3AD203B41FA5}">
                      <a16:colId xmlns:a16="http://schemas.microsoft.com/office/drawing/2014/main" val="3242075949"/>
                    </a:ext>
                  </a:extLst>
                </a:gridCol>
                <a:gridCol w="1951144">
                  <a:extLst>
                    <a:ext uri="{9D8B030D-6E8A-4147-A177-3AD203B41FA5}">
                      <a16:colId xmlns:a16="http://schemas.microsoft.com/office/drawing/2014/main" val="3946830377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858235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133995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3300" dirty="0"/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6671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784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12188656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5C32F-AA80-28FE-A35F-DC847D2EE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1622" y="484632"/>
            <a:ext cx="6448764" cy="639833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en-US" sz="4800" dirty="0"/>
              <a:t>Data Preprocessing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AF849288-CE56-97DB-228E-94D459BEBD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552" r="19630"/>
          <a:stretch>
            <a:fillRect/>
          </a:stretch>
        </p:blipFill>
        <p:spPr>
          <a:xfrm>
            <a:off x="3344" y="10"/>
            <a:ext cx="4646726" cy="685799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07878-948A-5615-61F7-50C44E35F1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0070" y="1507524"/>
            <a:ext cx="7050315" cy="4664676"/>
          </a:xfrm>
        </p:spPr>
        <p:txBody>
          <a:bodyPr>
            <a:normAutofit/>
          </a:bodyPr>
          <a:lstStyle/>
          <a:p>
            <a:r>
              <a:rPr lang="en-US" sz="1400" dirty="0"/>
              <a:t>Before training the models, the images were preprocessed.</a:t>
            </a:r>
          </a:p>
          <a:p>
            <a:r>
              <a:rPr lang="en-US" sz="1400" dirty="0"/>
              <a:t>Each image consists of pixel values ranging from:</a:t>
            </a:r>
          </a:p>
          <a:p>
            <a:pPr marL="0" indent="0">
              <a:buNone/>
            </a:pPr>
            <a:r>
              <a:rPr lang="en-US" sz="1400" dirty="0"/>
              <a:t>0 = Black</a:t>
            </a:r>
          </a:p>
          <a:p>
            <a:pPr marL="0" indent="0">
              <a:buNone/>
            </a:pPr>
            <a:r>
              <a:rPr lang="en-US" sz="1400" dirty="0"/>
              <a:t>255 = White</a:t>
            </a:r>
          </a:p>
          <a:p>
            <a:r>
              <a:rPr lang="en-US" sz="1400" dirty="0"/>
              <a:t>To make learning easier for the neural network, all pixel values were normalized by dividing them by 255.</a:t>
            </a:r>
          </a:p>
          <a:p>
            <a:r>
              <a:rPr lang="en-US" sz="1400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0 → 0.0</a:t>
            </a:r>
          </a:p>
          <a:p>
            <a:pPr marL="0" indent="0">
              <a:buNone/>
            </a:pPr>
            <a:r>
              <a:rPr lang="en-US" sz="1400" dirty="0"/>
              <a:t>255 → 1.0</a:t>
            </a:r>
          </a:p>
          <a:p>
            <a:r>
              <a:rPr lang="en-US" sz="1400" dirty="0"/>
              <a:t>This scales all values between 0 and 1, helping the model learn faster and more efficiently.</a:t>
            </a:r>
          </a:p>
          <a:p>
            <a:r>
              <a:rPr lang="en-US" sz="1400" dirty="0"/>
              <a:t>The images were then converted into </a:t>
            </a:r>
            <a:r>
              <a:rPr lang="en-US" sz="1400" dirty="0" err="1"/>
              <a:t>PyTorch</a:t>
            </a:r>
            <a:r>
              <a:rPr lang="en-US" sz="1400" dirty="0"/>
              <a:t> tensors so they could be processed by the neural network models.</a:t>
            </a:r>
          </a:p>
          <a:p>
            <a:endParaRPr lang="en-US" sz="14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107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632BC-0C37-EA51-B335-C7EB7FA510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633" y="643467"/>
            <a:ext cx="5096504" cy="1210048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Data Augmentation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C8AEA-F9D5-10F4-7DF4-B839CCD3E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315" y="643467"/>
            <a:ext cx="4534781" cy="557106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People write numbers in many different styles.</a:t>
            </a:r>
          </a:p>
          <a:p>
            <a:r>
              <a:rPr lang="en-US" sz="1800" dirty="0"/>
              <a:t>To help the models generalize better, data augmentation was applied.</a:t>
            </a:r>
          </a:p>
          <a:p>
            <a:r>
              <a:rPr lang="en-US" sz="1800" dirty="0"/>
              <a:t>The images were randomly:</a:t>
            </a:r>
          </a:p>
          <a:p>
            <a:pPr marL="0" indent="0">
              <a:buNone/>
            </a:pPr>
            <a:r>
              <a:rPr lang="en-US" sz="1800" dirty="0"/>
              <a:t>Rotated slightly</a:t>
            </a:r>
          </a:p>
          <a:p>
            <a:pPr marL="0" indent="0">
              <a:buNone/>
            </a:pPr>
            <a:r>
              <a:rPr lang="en-US" sz="1800" dirty="0"/>
              <a:t>Shifted slightly</a:t>
            </a:r>
          </a:p>
          <a:p>
            <a:r>
              <a:rPr lang="en-US" sz="1800" dirty="0"/>
              <a:t>This created many variations of the same digit and helped the model become more robust to handwriting differences.</a:t>
            </a:r>
          </a:p>
          <a:p>
            <a:r>
              <a:rPr lang="en-US" sz="1800" dirty="0"/>
              <a:t>Benefits of Data Augmentation:</a:t>
            </a:r>
          </a:p>
          <a:p>
            <a:pPr marL="0" indent="0">
              <a:buNone/>
            </a:pPr>
            <a:r>
              <a:rPr lang="en-US" sz="1800" dirty="0"/>
              <a:t>Increases training diversity</a:t>
            </a:r>
          </a:p>
          <a:p>
            <a:pPr marL="0" indent="0">
              <a:buNone/>
            </a:pPr>
            <a:r>
              <a:rPr lang="en-US" sz="1800" dirty="0"/>
              <a:t>Reduces overfitting</a:t>
            </a:r>
          </a:p>
          <a:p>
            <a:pPr marL="0" indent="0">
              <a:buNone/>
            </a:pPr>
            <a:r>
              <a:rPr lang="en-US" sz="1800" dirty="0"/>
              <a:t>Improves generalization</a:t>
            </a:r>
          </a:p>
          <a:p>
            <a:r>
              <a:rPr lang="en-US" sz="1800" dirty="0"/>
              <a:t>Enhances real-world performance</a:t>
            </a:r>
          </a:p>
          <a:p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0AB1B26-3D19-A178-528F-CB0C25CF781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92" y="1742437"/>
            <a:ext cx="5064746" cy="451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7442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DCB600-4F6D-05F3-7B39-657DA4543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269" y="643466"/>
            <a:ext cx="5067867" cy="544841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 Multi-Layer Perceptron (MLP)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E92F875-69E0-2EBC-4615-E906B77711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914" y="643466"/>
            <a:ext cx="6775817" cy="5571066"/>
          </a:xfrm>
        </p:spPr>
        <p:txBody>
          <a:bodyPr anchor="ctr">
            <a:normAutofit/>
          </a:bodyPr>
          <a:lstStyle/>
          <a:p>
            <a:r>
              <a:rPr lang="en-US" sz="1400" dirty="0"/>
              <a:t>The MLP learns mathematical relationships between pixel values.</a:t>
            </a:r>
          </a:p>
          <a:p>
            <a:r>
              <a:rPr lang="en-US" sz="1400" dirty="0"/>
              <a:t>After seeing thousands of examples, it learns patterns that frequently appear in each digit.</a:t>
            </a:r>
          </a:p>
          <a:p>
            <a:r>
              <a:rPr lang="en-US" sz="1400" dirty="0"/>
              <a:t>Horizontal line + Diagonal line = Likely a 7</a:t>
            </a:r>
          </a:p>
          <a:p>
            <a:r>
              <a:rPr lang="en-US" sz="1400" dirty="0"/>
              <a:t>The input image contains:</a:t>
            </a:r>
          </a:p>
          <a:p>
            <a:pPr marL="0" indent="0">
              <a:buNone/>
            </a:pPr>
            <a:r>
              <a:rPr lang="en-US" sz="1400" dirty="0"/>
              <a:t>28 × 28 = 784 pixels</a:t>
            </a:r>
          </a:p>
          <a:p>
            <a:pPr marL="0" indent="0">
              <a:buNone/>
            </a:pPr>
            <a:r>
              <a:rPr lang="en-US" sz="1400" dirty="0"/>
              <a:t>The MLP flattens the image into a vector of 784 numbers and processes them through fully connected layers.</a:t>
            </a:r>
          </a:p>
          <a:p>
            <a:pPr algn="ctr"/>
            <a:r>
              <a:rPr lang="en-US" sz="1400" dirty="0"/>
              <a:t>Architecture:</a:t>
            </a:r>
          </a:p>
          <a:p>
            <a:pPr marL="0" indent="0" algn="ctr">
              <a:buNone/>
            </a:pPr>
            <a:r>
              <a:rPr lang="en-US" sz="1400" dirty="0"/>
              <a:t>Input Layer (784 neurons)</a:t>
            </a:r>
          </a:p>
          <a:p>
            <a:pPr marL="0" indent="0" algn="ctr">
              <a:buNone/>
            </a:pPr>
            <a:r>
              <a:rPr lang="en-US" sz="1400" dirty="0"/>
              <a:t>Hidden Layers</a:t>
            </a:r>
          </a:p>
          <a:p>
            <a:pPr marL="0" indent="0" algn="ctr">
              <a:buNone/>
            </a:pPr>
            <a:r>
              <a:rPr lang="en-US" sz="1400" dirty="0"/>
              <a:t>Output Layer (10 neurons)</a:t>
            </a:r>
          </a:p>
          <a:p>
            <a:r>
              <a:rPr lang="en-US" sz="1400" dirty="0"/>
              <a:t>Limitations:</a:t>
            </a:r>
          </a:p>
          <a:p>
            <a:pPr marL="0" indent="0">
              <a:buNone/>
            </a:pPr>
            <a:r>
              <a:rPr lang="en-US" sz="1400" dirty="0"/>
              <a:t>Does not understand spatial relationships between pixels</a:t>
            </a:r>
          </a:p>
          <a:p>
            <a:pPr marL="0" indent="0">
              <a:buNone/>
            </a:pPr>
            <a:r>
              <a:rPr lang="en-US" sz="1400" dirty="0"/>
              <a:t>Less effective for image recognition tasks</a:t>
            </a:r>
          </a:p>
          <a:p>
            <a:pPr marL="0" indent="0">
              <a:buNone/>
            </a:pPr>
            <a:endParaRPr lang="en-US" sz="1400" dirty="0"/>
          </a:p>
          <a:p>
            <a:endParaRPr lang="en-US" sz="14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7615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6B66E70-9451-4286-A0C2-6CF108FE8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4B0696-68E2-40ED-B597-4B87387544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19EF1B4-0F49-44D2-AE21-263819BFB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blipFill dpi="0" rotWithShape="1">
            <a:blip r:embed="rId2">
              <a:alphaModFix amt="4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E4D673-E87A-4A34-B8AA-7662B99D9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119" y="643466"/>
            <a:ext cx="3348017" cy="5571067"/>
          </a:xfrm>
        </p:spPr>
        <p:txBody>
          <a:bodyPr>
            <a:normAutofit/>
          </a:bodyPr>
          <a:lstStyle/>
          <a:p>
            <a:r>
              <a:rPr lang="en-US" sz="4400">
                <a:solidFill>
                  <a:schemeClr val="tx1"/>
                </a:solidFill>
              </a:rPr>
              <a:t>Convolutional Neural Network (CNN)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1D8D8-E8CE-B4AA-7D23-51545452F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571" y="643467"/>
            <a:ext cx="5730160" cy="5571066"/>
          </a:xfrm>
        </p:spPr>
        <p:txBody>
          <a:bodyPr anchor="ctr">
            <a:normAutofit/>
          </a:bodyPr>
          <a:lstStyle/>
          <a:p>
            <a:r>
              <a:rPr lang="en-US" sz="1800" dirty="0"/>
              <a:t>CNNs are specifically designed for image recognition tasks.</a:t>
            </a:r>
          </a:p>
          <a:p>
            <a:r>
              <a:rPr lang="en-US" sz="1800" dirty="0"/>
              <a:t>Instead of treating every pixel independently, CNNs learn visual patterns such as:</a:t>
            </a:r>
          </a:p>
          <a:p>
            <a:pPr marL="0" indent="0">
              <a:buNone/>
            </a:pPr>
            <a:r>
              <a:rPr lang="en-US" sz="1800" dirty="0"/>
              <a:t>Edges, Lines, Corners, Curves, Shapes</a:t>
            </a:r>
          </a:p>
          <a:p>
            <a:pPr marL="0" indent="0">
              <a:buNone/>
            </a:pPr>
            <a:r>
              <a:rPr lang="en-US" sz="1800" dirty="0"/>
              <a:t>The model gradually combines these features to recognize complete digits.</a:t>
            </a:r>
          </a:p>
          <a:p>
            <a:r>
              <a:rPr lang="en-US" sz="1800" dirty="0"/>
              <a:t>Example:</a:t>
            </a:r>
          </a:p>
          <a:p>
            <a:pPr marL="0" indent="0">
              <a:buNone/>
            </a:pPr>
            <a:r>
              <a:rPr lang="en-US" sz="1800" dirty="0"/>
              <a:t>Two circles → 8</a:t>
            </a:r>
          </a:p>
          <a:p>
            <a:pPr marL="0" indent="0">
              <a:buNone/>
            </a:pPr>
            <a:r>
              <a:rPr lang="en-US" sz="1800" dirty="0"/>
              <a:t>Circle + vertical line → 9</a:t>
            </a:r>
          </a:p>
          <a:p>
            <a:r>
              <a:rPr lang="en-US" sz="1800" dirty="0"/>
              <a:t>Advantages:</a:t>
            </a:r>
          </a:p>
          <a:p>
            <a:pPr marL="0" indent="0">
              <a:buNone/>
            </a:pPr>
            <a:r>
              <a:rPr lang="en-US" sz="1800" dirty="0"/>
              <a:t>Learns image features automatically</a:t>
            </a:r>
          </a:p>
          <a:p>
            <a:pPr marL="0" indent="0">
              <a:buNone/>
            </a:pPr>
            <a:r>
              <a:rPr lang="en-US" sz="1800" dirty="0"/>
              <a:t>Highly effective for image classification</a:t>
            </a:r>
          </a:p>
          <a:p>
            <a:endParaRPr lang="en-US" sz="18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B69B0BE-E00A-432A-98D1-A47B82C163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AF8A5ED-19F8-4707-8EEC-7115E6B112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F50C1C-978D-45B5-B716-7DA91773C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395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07660A-5F9B-CAFF-06DF-58199986CA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494270"/>
            <a:ext cx="10058400" cy="5677930"/>
          </a:xfrm>
        </p:spPr>
        <p:txBody>
          <a:bodyPr/>
          <a:lstStyle/>
          <a:p>
            <a:r>
              <a:rPr lang="en-US" dirty="0"/>
              <a:t>Training CNN Model... </a:t>
            </a:r>
          </a:p>
          <a:p>
            <a:r>
              <a:rPr lang="en-US" dirty="0"/>
              <a:t>Epoch 1: Loss=0.4098, Acc=97.83% </a:t>
            </a:r>
          </a:p>
          <a:p>
            <a:r>
              <a:rPr lang="en-US" dirty="0"/>
              <a:t>Epoch 2: Loss=0.1571, Acc=98.39% </a:t>
            </a:r>
          </a:p>
          <a:p>
            <a:r>
              <a:rPr lang="en-US" dirty="0"/>
              <a:t>Epoch 3: Loss=0.1226, Acc=98.73% </a:t>
            </a:r>
          </a:p>
          <a:p>
            <a:r>
              <a:rPr lang="en-US" dirty="0"/>
              <a:t>Epoch 4: Loss=0.1006, Acc=99.01% </a:t>
            </a:r>
          </a:p>
          <a:p>
            <a:r>
              <a:rPr lang="en-US" dirty="0"/>
              <a:t>Epoch 5: Loss=0.0907, Acc=99.00%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140122-5D7C-ED0D-A2A0-B93BCD666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8763" y="3630140"/>
            <a:ext cx="7772400" cy="1933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432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2E11DD-B54B-4751-9C17-39DAF9EF4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B3C2F-8AED-DCDC-E827-51F204332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80" y="484632"/>
            <a:ext cx="6743844" cy="1609344"/>
          </a:xfrm>
        </p:spPr>
        <p:txBody>
          <a:bodyPr>
            <a:normAutofit/>
          </a:bodyPr>
          <a:lstStyle/>
          <a:p>
            <a:r>
              <a:rPr lang="en-US" sz="4800"/>
              <a:t>Transformer 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0355D-CB49-4C79-8743-7C769CDB0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279" y="1742303"/>
            <a:ext cx="7126125" cy="511569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400" dirty="0"/>
              <a:t>Transformers are the same family of models used in modern AI systems such as ChatGPT.</a:t>
            </a:r>
          </a:p>
          <a:p>
            <a:pPr marL="0" indent="0">
              <a:buNone/>
            </a:pPr>
            <a:r>
              <a:rPr lang="en-US" sz="1400" dirty="0"/>
              <a:t>The image is divided into small patches.</a:t>
            </a:r>
          </a:p>
          <a:p>
            <a:pPr marL="0" indent="0">
              <a:buNone/>
            </a:pPr>
            <a:r>
              <a:rPr lang="en-US" sz="1400" dirty="0"/>
              <a:t>Each patch learns information about its local region and communicates with all other patches using a mechanism called Self-Attention.</a:t>
            </a:r>
          </a:p>
          <a:p>
            <a:pPr marL="0" indent="0">
              <a:buNone/>
            </a:pPr>
            <a:r>
              <a:rPr lang="en-US" sz="1400" dirty="0"/>
              <a:t>This allows the model to understand relationships across the entire image.</a:t>
            </a:r>
          </a:p>
          <a:p>
            <a:r>
              <a:rPr lang="en-US" sz="1400" dirty="0"/>
              <a:t>Example:</a:t>
            </a:r>
          </a:p>
          <a:p>
            <a:pPr marL="0" indent="0">
              <a:buNone/>
            </a:pPr>
            <a:r>
              <a:rPr lang="en-US" sz="1400" dirty="0"/>
              <a:t>One patch may see part of a loop while another patch sees the remaining loop. Together they determine that the image is likely an 8.</a:t>
            </a:r>
          </a:p>
          <a:p>
            <a:r>
              <a:rPr lang="en-US" sz="1400" dirty="0"/>
              <a:t>Advantages:</a:t>
            </a:r>
          </a:p>
          <a:p>
            <a:pPr marL="0" indent="0">
              <a:buNone/>
            </a:pPr>
            <a:r>
              <a:rPr lang="en-US" sz="1400" dirty="0"/>
              <a:t>Captures global relationships</a:t>
            </a:r>
          </a:p>
          <a:p>
            <a:pPr marL="0" indent="0">
              <a:buNone/>
            </a:pPr>
            <a:r>
              <a:rPr lang="en-US" sz="1400" dirty="0"/>
              <a:t>Powerful architecture</a:t>
            </a:r>
          </a:p>
          <a:p>
            <a:pPr marL="0" indent="0">
              <a:buNone/>
            </a:pPr>
            <a:r>
              <a:rPr lang="en-US" sz="1400" dirty="0"/>
              <a:t>Widely used in modern AI research</a:t>
            </a:r>
          </a:p>
          <a:p>
            <a:endParaRPr lang="en-US" sz="1400" dirty="0"/>
          </a:p>
        </p:txBody>
      </p:sp>
      <p:pic>
        <p:nvPicPr>
          <p:cNvPr id="5" name="Picture 4" descr="A toy robot">
            <a:extLst>
              <a:ext uri="{FF2B5EF4-FFF2-40B4-BE49-F238E27FC236}">
                <a16:creationId xmlns:a16="http://schemas.microsoft.com/office/drawing/2014/main" id="{90EC8D05-AF60-206A-F5F1-820F355DC6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341" r="26431" b="-1"/>
          <a:stretch>
            <a:fillRect/>
          </a:stretch>
        </p:blipFill>
        <p:spPr>
          <a:xfrm>
            <a:off x="7545274" y="10"/>
            <a:ext cx="4646726" cy="685799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B55DE4E1-F219-45A4-96D9-9A86D0E4DB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3601C3FF-4A5D-437C-B3DB-A53B99D30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1B1BDC9-B583-4F65-8FE9-E2CBE71D9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97375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A5C0E-B33A-63C2-E6D6-A67631F2C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n-US" dirty="0"/>
              <a:t>Model Performance Comparison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156C6EA-4F8D-D232-4272-10893F8092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5286416"/>
              </p:ext>
            </p:extLst>
          </p:nvPr>
        </p:nvGraphicFramePr>
        <p:xfrm>
          <a:off x="1791613" y="2719080"/>
          <a:ext cx="8615123" cy="2950464"/>
        </p:xfrm>
        <a:graphic>
          <a:graphicData uri="http://schemas.openxmlformats.org/drawingml/2006/table">
            <a:tbl>
              <a:tblPr/>
              <a:tblGrid>
                <a:gridCol w="4778185">
                  <a:extLst>
                    <a:ext uri="{9D8B030D-6E8A-4147-A177-3AD203B41FA5}">
                      <a16:colId xmlns:a16="http://schemas.microsoft.com/office/drawing/2014/main" val="1791359739"/>
                    </a:ext>
                  </a:extLst>
                </a:gridCol>
                <a:gridCol w="3836938">
                  <a:extLst>
                    <a:ext uri="{9D8B030D-6E8A-4147-A177-3AD203B41FA5}">
                      <a16:colId xmlns:a16="http://schemas.microsoft.com/office/drawing/2014/main" val="170403471"/>
                    </a:ext>
                  </a:extLst>
                </a:gridCol>
              </a:tblGrid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Model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Accuracy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456044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MLP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~97%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894872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Transformer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~98%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502216"/>
                  </a:ext>
                </a:extLst>
              </a:tr>
              <a:tr h="73761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/>
                        <a:t>CNN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300" dirty="0"/>
                        <a:t>~99%</a:t>
                      </a:r>
                    </a:p>
                  </a:txBody>
                  <a:tcPr marL="167640" marR="167640" marT="83820" marB="838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06831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7135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DCC0DCE3-8753-43BB-86D2-6452D91E4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D28BC7A6-65CA-4655-8641-7BDE9699B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58755CF4-45A8-4971-A14E-D6DE02B4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21F62D5-850C-4310-A813-747E46433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CAD4B505-4A68-456B-9AFD-344192BE94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7F9A339-5395-403B-B163-DFDDD9E099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9818A645-2267-4F2E-9342-266D4D1DC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9CE5CF-7B36-345B-F507-534B79C043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8102" y="564542"/>
            <a:ext cx="3670193" cy="3064611"/>
          </a:xfrm>
          <a:prstGeom prst="rect">
            <a:avLst/>
          </a:prstGeom>
        </p:spPr>
      </p:pic>
      <p:sp>
        <p:nvSpPr>
          <p:cNvPr id="71" name="Rectangle 70">
            <a:extLst>
              <a:ext uri="{FF2B5EF4-FFF2-40B4-BE49-F238E27FC236}">
                <a16:creationId xmlns:a16="http://schemas.microsoft.com/office/drawing/2014/main" id="{CD60390C-0E4C-4682-8246-AFA2E4985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EBA87F4-FB8A-4D91-B3F3-DFA78E0CC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2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4D8909E2-8626-20C3-560A-1B39A9DF30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3480" y="4277802"/>
            <a:ext cx="6022449" cy="16224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r">
              <a:lnSpc>
                <a:spcPct val="80000"/>
              </a:lnSpc>
            </a:pPr>
            <a:r>
              <a:rPr lang="en-US" sz="42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Accuracy over Epochs (CNN)</a:t>
            </a:r>
            <a:br>
              <a:rPr lang="en-US" sz="42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</a:br>
            <a:r>
              <a:rPr lang="en-US" sz="4200" kern="12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  <a:latin typeface="+mj-lt"/>
                <a:ea typeface="+mj-ea"/>
                <a:cs typeface="+mj-cs"/>
              </a:rPr>
              <a:t>confusion_matrix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9EC0B44-39DE-CA9A-B1C4-CC3D8864CCC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993" y="564542"/>
            <a:ext cx="3854856" cy="3064611"/>
          </a:xfrm>
          <a:prstGeom prst="rect">
            <a:avLst/>
          </a:prstGeom>
        </p:spPr>
      </p:pic>
      <p:sp>
        <p:nvSpPr>
          <p:cNvPr id="75" name="Rectangle 74">
            <a:extLst>
              <a:ext uri="{FF2B5EF4-FFF2-40B4-BE49-F238E27FC236}">
                <a16:creationId xmlns:a16="http://schemas.microsoft.com/office/drawing/2014/main" id="{D012A90F-45C2-4C9B-BAF6-9CE1F546C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611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C3986-BE30-E848-955B-CAA85D81E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Adversarial Attacks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6A383-B1E0-9F08-DBCF-5382AF20DC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Although deep learning models achieve high accuracy, they can be vulnerable to adversarial attacks.</a:t>
            </a:r>
          </a:p>
          <a:p>
            <a:r>
              <a:rPr lang="en-US" dirty="0"/>
              <a:t>An adversarial attack adds tiny perturbations to an image.</a:t>
            </a:r>
          </a:p>
          <a:p>
            <a:r>
              <a:rPr lang="en-US" dirty="0"/>
              <a:t>These changes are often invisible to humans but can completely change the model’s prediction.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r>
              <a:rPr lang="en-US" dirty="0"/>
              <a:t>Human sees: 7</a:t>
            </a:r>
          </a:p>
          <a:p>
            <a:pPr marL="0" indent="0">
              <a:buNone/>
            </a:pPr>
            <a:r>
              <a:rPr lang="en-US" dirty="0"/>
              <a:t>Neural Network predicts: 1</a:t>
            </a:r>
          </a:p>
          <a:p>
            <a:r>
              <a:rPr lang="en-US" dirty="0"/>
              <a:t>This demonstrates a major security concern in deep learning systems.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966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2A5C-864A-9CD2-83C0-B6D33543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FGSM Attack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9E6D1-0FB1-0FD8-DFCB-86E8ADD65C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7"/>
            <a:ext cx="6146498" cy="4588311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FGSM stands for Fast Gradient Sign Method.</a:t>
            </a:r>
          </a:p>
          <a:p>
            <a:r>
              <a:rPr lang="en-US" dirty="0"/>
              <a:t>FGSM is a single-step adversarial attack.</a:t>
            </a:r>
          </a:p>
          <a:p>
            <a:r>
              <a:rPr lang="en-US" dirty="0"/>
              <a:t>The attack calculates which pixels are most important for the prediction and slightly modifies them in a direction that increases the model's error.</a:t>
            </a:r>
          </a:p>
          <a:p>
            <a:r>
              <a:rPr lang="en-US" dirty="0"/>
              <a:t>Attack Process:</a:t>
            </a:r>
          </a:p>
          <a:p>
            <a:pPr marL="0" indent="0">
              <a:buNone/>
            </a:pPr>
            <a:r>
              <a:rPr lang="en-US" dirty="0"/>
              <a:t>Compute gradients.</a:t>
            </a:r>
          </a:p>
          <a:p>
            <a:pPr marL="0" indent="0">
              <a:buNone/>
            </a:pPr>
            <a:r>
              <a:rPr lang="en-US" dirty="0"/>
              <a:t>Identify important pixels.</a:t>
            </a:r>
          </a:p>
          <a:p>
            <a:pPr marL="0" indent="0">
              <a:buNone/>
            </a:pPr>
            <a:r>
              <a:rPr lang="en-US" dirty="0"/>
              <a:t>Add small perturbations.</a:t>
            </a:r>
          </a:p>
          <a:p>
            <a:pPr marL="0" indent="0">
              <a:buNone/>
            </a:pPr>
            <a:r>
              <a:rPr lang="en-US" dirty="0"/>
              <a:t>Generate adversarial image.</a:t>
            </a:r>
          </a:p>
          <a:p>
            <a:r>
              <a:rPr lang="en-US" dirty="0"/>
              <a:t>FGSM is fast and computationally efficient.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ABD31B-DE1A-8856-AC33-EC4D5D2CF085}"/>
              </a:ext>
            </a:extLst>
          </p:cNvPr>
          <p:cNvSpPr txBox="1"/>
          <p:nvPr/>
        </p:nvSpPr>
        <p:spPr>
          <a:xfrm>
            <a:off x="8291384" y="2718485"/>
            <a:ext cx="35711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Clean Accuracy:  98.91%</a:t>
            </a:r>
          </a:p>
          <a:p>
            <a:r>
              <a:rPr lang="en-US" dirty="0"/>
              <a:t>FGSM Accuracy:  13.73%</a:t>
            </a:r>
          </a:p>
          <a:p>
            <a:r>
              <a:rPr lang="en-US" dirty="0"/>
              <a:t>Attack Success Rate:  86.27%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4788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C5FD-DA6F-8525-6AB5-95F035499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PGD Attack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1AF5E-D86A-560B-C42D-24FA683D5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7283320" cy="425196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PGD stands for Projected Gradient Descent.</a:t>
            </a:r>
          </a:p>
          <a:p>
            <a:r>
              <a:rPr lang="en-US" dirty="0"/>
              <a:t>PGD is an iterative version of FGSM.</a:t>
            </a:r>
          </a:p>
          <a:p>
            <a:r>
              <a:rPr lang="en-US" dirty="0"/>
              <a:t>Instead of attacking once, PGD repeatedly modifies the image multiple times.</a:t>
            </a:r>
          </a:p>
          <a:p>
            <a:r>
              <a:rPr lang="en-US" dirty="0"/>
              <a:t>Attack Process:</a:t>
            </a:r>
          </a:p>
          <a:p>
            <a:r>
              <a:rPr lang="en-US" dirty="0"/>
              <a:t>Compute gradients.</a:t>
            </a:r>
          </a:p>
          <a:p>
            <a:r>
              <a:rPr lang="en-US" dirty="0"/>
              <a:t>Modify image slightly.</a:t>
            </a:r>
          </a:p>
          <a:p>
            <a:r>
              <a:rPr lang="en-US" dirty="0"/>
              <a:t>Recompute gradients.</a:t>
            </a:r>
          </a:p>
          <a:p>
            <a:r>
              <a:rPr lang="en-US" dirty="0"/>
              <a:t>Modify again.</a:t>
            </a:r>
          </a:p>
          <a:p>
            <a:r>
              <a:rPr lang="en-US" dirty="0"/>
              <a:t>Repeat for multiple iterations.</a:t>
            </a:r>
          </a:p>
          <a:p>
            <a:r>
              <a:rPr lang="en-US" dirty="0"/>
              <a:t>PGD is considered one of the strongest first-order adversarial attacks.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0D5711-D756-0997-5F7B-0D0B86564F9F}"/>
              </a:ext>
            </a:extLst>
          </p:cNvPr>
          <p:cNvSpPr txBox="1"/>
          <p:nvPr/>
        </p:nvSpPr>
        <p:spPr>
          <a:xfrm>
            <a:off x="8353168" y="2557849"/>
            <a:ext cx="337339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PGD Accuracy:  0.00%</a:t>
            </a:r>
          </a:p>
          <a:p>
            <a:r>
              <a:rPr lang="en-US" dirty="0"/>
              <a:t>Attack Success Rate:  100%</a:t>
            </a:r>
          </a:p>
          <a:p>
            <a:r>
              <a:rPr lang="en-US" dirty="0"/>
              <a:t>Interpretation:</a:t>
            </a:r>
          </a:p>
          <a:p>
            <a:r>
              <a:rPr lang="en-US" dirty="0"/>
              <a:t>The attack completely defeated the model.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577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2A652-975B-A566-1664-1A43002F3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MI-FGSM Attack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0111-F5BC-EE9A-5771-DA8E5A9B85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121408"/>
            <a:ext cx="6801406" cy="4613024"/>
          </a:xfrm>
        </p:spPr>
        <p:txBody>
          <a:bodyPr/>
          <a:lstStyle/>
          <a:p>
            <a:r>
              <a:rPr lang="en-US" dirty="0"/>
              <a:t>MI-FGSM stands for Momentum Iterative Fast Gradient Sign Method.</a:t>
            </a:r>
          </a:p>
          <a:p>
            <a:r>
              <a:rPr lang="en-US" dirty="0"/>
              <a:t>This attack combines:</a:t>
            </a:r>
          </a:p>
          <a:p>
            <a:r>
              <a:rPr lang="en-US" dirty="0"/>
              <a:t>FGSM</a:t>
            </a:r>
          </a:p>
          <a:p>
            <a:r>
              <a:rPr lang="en-US" dirty="0"/>
              <a:t>Iterative optimization</a:t>
            </a:r>
          </a:p>
          <a:p>
            <a:r>
              <a:rPr lang="en-US" dirty="0"/>
              <a:t>Momentum</a:t>
            </a:r>
          </a:p>
          <a:p>
            <a:r>
              <a:rPr lang="en-US" dirty="0"/>
              <a:t>Momentum helps the attack remember previous attack directions and accumulate stronger perturbations over time.</a:t>
            </a:r>
          </a:p>
          <a:p>
            <a:r>
              <a:rPr lang="en-US" dirty="0"/>
              <a:t>This makes the attack more stable and more effective.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A80696-921B-EEE4-E080-3D0DE7150B19}"/>
              </a:ext>
            </a:extLst>
          </p:cNvPr>
          <p:cNvSpPr txBox="1"/>
          <p:nvPr/>
        </p:nvSpPr>
        <p:spPr>
          <a:xfrm>
            <a:off x="8377880" y="2545492"/>
            <a:ext cx="366995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Accuracy: 0.06%</a:t>
            </a:r>
          </a:p>
          <a:p>
            <a:r>
              <a:rPr lang="en-US" dirty="0"/>
              <a:t>Attack Success Rate: 99.94%</a:t>
            </a:r>
          </a:p>
          <a:p>
            <a:endParaRPr lang="en-US" dirty="0"/>
          </a:p>
          <a:p>
            <a:r>
              <a:rPr lang="en-US" dirty="0"/>
              <a:t>Interpretation:</a:t>
            </a:r>
          </a:p>
          <a:p>
            <a:r>
              <a:rPr lang="en-US" dirty="0"/>
              <a:t>The attack was nearly as effective as PGD.</a:t>
            </a:r>
          </a:p>
          <a:p>
            <a:endParaRPr lang="en-US" dirty="0"/>
          </a:p>
          <a:p>
            <a:r>
              <a:rPr lang="en-US" dirty="0"/>
              <a:t>Only 0.06% of images remained correctly classified.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87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7AD40-AC72-E9E5-C2E6-5089CA4EA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5676" y="484632"/>
            <a:ext cx="9892572" cy="849898"/>
          </a:xfrm>
        </p:spPr>
        <p:txBody>
          <a:bodyPr>
            <a:normAutofit/>
          </a:bodyPr>
          <a:lstStyle/>
          <a:p>
            <a:r>
              <a:rPr lang="en-US" dirty="0"/>
              <a:t>Attack Comparison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08736B7-DADC-A241-CD2E-EFFAA9AE09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5288482"/>
              </p:ext>
            </p:extLst>
          </p:nvPr>
        </p:nvGraphicFramePr>
        <p:xfrm>
          <a:off x="852616" y="1186249"/>
          <a:ext cx="10058400" cy="3577775"/>
        </p:xfrm>
        <a:graphic>
          <a:graphicData uri="http://schemas.openxmlformats.org/drawingml/2006/table">
            <a:tbl>
              <a:tblPr/>
              <a:tblGrid>
                <a:gridCol w="5790578">
                  <a:extLst>
                    <a:ext uri="{9D8B030D-6E8A-4147-A177-3AD203B41FA5}">
                      <a16:colId xmlns:a16="http://schemas.microsoft.com/office/drawing/2014/main" val="2340882158"/>
                    </a:ext>
                  </a:extLst>
                </a:gridCol>
                <a:gridCol w="4267822">
                  <a:extLst>
                    <a:ext uri="{9D8B030D-6E8A-4147-A177-3AD203B41FA5}">
                      <a16:colId xmlns:a16="http://schemas.microsoft.com/office/drawing/2014/main" val="1125951568"/>
                    </a:ext>
                  </a:extLst>
                </a:gridCol>
              </a:tblGrid>
              <a:tr h="71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Scenario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Accuracy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3387947"/>
                  </a:ext>
                </a:extLst>
              </a:tr>
              <a:tr h="71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Clean Images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98.91%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539583"/>
                  </a:ext>
                </a:extLst>
              </a:tr>
              <a:tr h="71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FGSM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13.73%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200145"/>
                  </a:ext>
                </a:extLst>
              </a:tr>
              <a:tr h="71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PGD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0.00%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5079331"/>
                  </a:ext>
                </a:extLst>
              </a:tr>
              <a:tr h="71555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/>
                        <a:t>MI-FGSM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200" dirty="0"/>
                        <a:t>0.06%</a:t>
                      </a:r>
                    </a:p>
                  </a:txBody>
                  <a:tcPr marL="164447" marR="164447" marT="82224" marB="8222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321852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8D4BECB2-E3A2-D0E2-F378-F338F0D8C4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2681" y="4803938"/>
            <a:ext cx="8454679" cy="188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14472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522</TotalTime>
  <Words>959</Words>
  <Application>Microsoft Macintosh PowerPoint</Application>
  <PresentationFormat>Widescreen</PresentationFormat>
  <Paragraphs>156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Calibri</vt:lpstr>
      <vt:lpstr>Rockwell</vt:lpstr>
      <vt:lpstr>Rockwell Condensed</vt:lpstr>
      <vt:lpstr>Rockwell Extra Bold</vt:lpstr>
      <vt:lpstr>Wingdings</vt:lpstr>
      <vt:lpstr>Wood Type</vt:lpstr>
      <vt:lpstr>Handwritten Digit Recognition Using Deep Learning Models and Adversarial Attacks</vt:lpstr>
      <vt:lpstr>PowerPoint Presentation</vt:lpstr>
      <vt:lpstr>Dataset (MNIST)</vt:lpstr>
      <vt:lpstr>Data Preprocessing</vt:lpstr>
      <vt:lpstr>Data Augmentation</vt:lpstr>
      <vt:lpstr> Multi-Layer Perceptron (MLP)</vt:lpstr>
      <vt:lpstr>Convolutional Neural Network (CNN)</vt:lpstr>
      <vt:lpstr>PowerPoint Presentation</vt:lpstr>
      <vt:lpstr>Transformer Encoder</vt:lpstr>
      <vt:lpstr>Model Performance Comparison</vt:lpstr>
      <vt:lpstr>Accuracy over Epochs (CNN) confusion_matrix</vt:lpstr>
      <vt:lpstr>Adversarial Attacks </vt:lpstr>
      <vt:lpstr>FGSM Attack</vt:lpstr>
      <vt:lpstr>PGD Attack</vt:lpstr>
      <vt:lpstr>MI-FGSM Attack</vt:lpstr>
      <vt:lpstr>Attack Comparison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Jashwanth Bheema</dc:creator>
  <cp:lastModifiedBy>Jashwanth Bheema</cp:lastModifiedBy>
  <cp:revision>1</cp:revision>
  <dcterms:created xsi:type="dcterms:W3CDTF">2026-05-30T07:08:12Z</dcterms:created>
  <dcterms:modified xsi:type="dcterms:W3CDTF">2026-05-30T15:50:36Z</dcterms:modified>
</cp:coreProperties>
</file>